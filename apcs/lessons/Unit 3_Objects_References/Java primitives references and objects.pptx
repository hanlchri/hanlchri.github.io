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2" r:id="rId10"/>
    <p:sldId id="268" r:id="rId11"/>
    <p:sldId id="269" r:id="rId12"/>
    <p:sldId id="270" r:id="rId13"/>
    <p:sldId id="272" r:id="rId14"/>
    <p:sldId id="273" r:id="rId15"/>
    <p:sldId id="274" r:id="rId16"/>
  </p:sldIdLst>
  <p:sldSz cx="9144000" cy="6858000" type="screen4x3"/>
  <p:notesSz cx="7019925" cy="9305925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1" userDrawn="1">
          <p15:clr>
            <a:srgbClr val="A4A3A4"/>
          </p15:clr>
        </p15:guide>
        <p15:guide id="2" pos="221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22C16"/>
    <a:srgbClr val="0C788E"/>
    <a:srgbClr val="025198"/>
    <a:srgbClr val="000099"/>
    <a:srgbClr val="1C1C1C"/>
    <a:srgbClr val="004C00"/>
    <a:srgbClr val="3E3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1" autoAdjust="0"/>
    <p:restoredTop sz="94652" autoAdjust="0"/>
  </p:normalViewPr>
  <p:slideViewPr>
    <p:cSldViewPr>
      <p:cViewPr varScale="1">
        <p:scale>
          <a:sx n="84" d="100"/>
          <a:sy n="84" d="100"/>
        </p:scale>
        <p:origin x="11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472" y="-90"/>
      </p:cViewPr>
      <p:guideLst>
        <p:guide orient="horz" pos="2931"/>
        <p:guide pos="221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C8FA2491-BD2E-4B6F-B2BD-BD220567E78F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D2458B6B-4CB8-4ADD-B33A-D800F1FE7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E9657173-6CA4-4D9B-B945-CC2143DD409B}" type="datetimeFigureOut">
              <a:rPr lang="en-US" smtClean="0"/>
              <a:t>12/1/2022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13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87FD2B4B-393D-4313-9144-8ABF158029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3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FD2B4B-393D-4313-9144-8ABF158029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8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4F5FF-F776-4406-84F7-8E2C58BE25FA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1097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AC924-BEDF-4C27-AFA5-9696D4768364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29272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98A13-CA04-47F3-9CCD-09450FA556E6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0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0E80B-3283-4AE3-8DD9-EF44DFC85E83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499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BAA79-71A8-45EC-BD52-E3ECBCA5A84D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698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3B1CF-84CD-47E5-9413-708024CC1C29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315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A3BC5-2E51-4C90-8306-C059764799DB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592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38C12-91B5-45DE-9FF4-1B842E973DE1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713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4AF134-D8E4-4A6C-BC02-E9867924B959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843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1B7B8-32ED-4EEA-9650-47ED7150D061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736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5C2AF-C8C2-4334-8DB2-4514E2048E60}" type="slidenum">
              <a:rPr lang="es-ES"/>
              <a:pPr>
                <a:defRPr/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3961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F1C488C-FF8C-4F95-83BD-B83673279C5D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755650" y="836613"/>
            <a:ext cx="7343775" cy="544512"/>
          </a:xfrm>
          <a:noFill/>
        </p:spPr>
        <p:txBody>
          <a:bodyPr/>
          <a:lstStyle/>
          <a:p>
            <a:pPr eaLnBrk="1" hangingPunct="1"/>
            <a:r>
              <a:rPr lang="en-US" sz="5000" dirty="0" smtClean="0">
                <a:solidFill>
                  <a:schemeClr val="accent2"/>
                </a:solidFill>
              </a:rPr>
              <a:t>Java primitives, references and objects</a:t>
            </a:r>
            <a:br>
              <a:rPr lang="en-US" sz="5000" dirty="0" smtClean="0">
                <a:solidFill>
                  <a:schemeClr val="accent2"/>
                </a:solidFill>
              </a:rPr>
            </a:br>
            <a:r>
              <a:rPr lang="en-US" sz="3600" dirty="0" smtClean="0">
                <a:solidFill>
                  <a:schemeClr val="accent2"/>
                </a:solidFill>
              </a:rPr>
              <a:t>by </a:t>
            </a:r>
            <a:r>
              <a:rPr lang="en-US" sz="3600" dirty="0" err="1" smtClean="0">
                <a:solidFill>
                  <a:schemeClr val="accent2"/>
                </a:solidFill>
              </a:rPr>
              <a:t>mr</a:t>
            </a:r>
            <a:r>
              <a:rPr lang="en-US" sz="3600" dirty="0" smtClean="0">
                <a:solidFill>
                  <a:schemeClr val="accent2"/>
                </a:solidFill>
              </a:rPr>
              <a:t> Hanley 3/4/2017</a:t>
            </a:r>
          </a:p>
        </p:txBody>
      </p:sp>
      <p:sp>
        <p:nvSpPr>
          <p:cNvPr id="2051" name="Rectangle 111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2204864"/>
            <a:ext cx="7129463" cy="936625"/>
          </a:xfrm>
          <a:noFill/>
        </p:spPr>
        <p:txBody>
          <a:bodyPr/>
          <a:lstStyle/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The java language allows for the creation of variables to represent information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What are </a:t>
            </a:r>
            <a:r>
              <a:rPr lang="en-US" sz="2500" b="1" dirty="0" smtClean="0">
                <a:solidFill>
                  <a:schemeClr val="accent2"/>
                </a:solidFill>
              </a:rPr>
              <a:t>primitives</a:t>
            </a:r>
            <a:r>
              <a:rPr lang="en-US" sz="2500" dirty="0" smtClean="0">
                <a:solidFill>
                  <a:schemeClr val="accent2"/>
                </a:solidFill>
              </a:rPr>
              <a:t>?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Primitives are variables that store information directly in computer memory</a:t>
            </a:r>
          </a:p>
          <a:p>
            <a:pPr marL="342900" indent="-342900" algn="l" eaLnBrk="1" hangingPunct="1">
              <a:buFontTx/>
              <a:buChar char="•"/>
            </a:pPr>
            <a:r>
              <a:rPr lang="en-US" sz="2500" dirty="0" smtClean="0">
                <a:solidFill>
                  <a:schemeClr val="accent2"/>
                </a:solidFill>
              </a:rPr>
              <a:t>Java has provided us with ____ primitive types</a:t>
            </a:r>
          </a:p>
          <a:p>
            <a:pPr marL="342900" indent="-342900" algn="l" eaLnBrk="1" hangingPunct="1">
              <a:buFontTx/>
              <a:buChar char="•"/>
            </a:pPr>
            <a:endParaRPr lang="en-US" sz="2500" dirty="0" smtClean="0">
              <a:solidFill>
                <a:schemeClr val="accent2"/>
              </a:solidFill>
            </a:endParaRPr>
          </a:p>
          <a:p>
            <a:pPr algn="l" eaLnBrk="1" hangingPunct="1"/>
            <a:endParaRPr lang="en-US" sz="2500" dirty="0" smtClean="0">
              <a:solidFill>
                <a:schemeClr val="accent2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84F5FF-F776-4406-84F7-8E2C58BE25FA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Java Primitives</a:t>
            </a:r>
            <a:endParaRPr lang="en-US" dirty="0"/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539552" y="1268239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>
                <a:solidFill>
                  <a:schemeClr val="accent2"/>
                </a:solidFill>
              </a:rPr>
              <a:t>byte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short</a:t>
            </a: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int</a:t>
            </a:r>
            <a:endParaRPr lang="en-US" sz="2500" kern="0" dirty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long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float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double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char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boolean</a:t>
            </a: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3491880" y="1332329"/>
            <a:ext cx="962672" cy="91440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byte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1 byte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4499992" y="1290464"/>
            <a:ext cx="1002322" cy="127444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short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2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lowchart: Magnetic Disk 6"/>
          <p:cNvSpPr/>
          <p:nvPr/>
        </p:nvSpPr>
        <p:spPr>
          <a:xfrm>
            <a:off x="5652120" y="1426024"/>
            <a:ext cx="1287670" cy="169324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int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4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lowchart: Magnetic Disk 7"/>
          <p:cNvSpPr/>
          <p:nvPr/>
        </p:nvSpPr>
        <p:spPr>
          <a:xfrm>
            <a:off x="7169661" y="1332329"/>
            <a:ext cx="1880682" cy="2603010"/>
          </a:xfrm>
          <a:prstGeom prst="flowChartMagneticDisk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long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8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1835696" y="2204864"/>
            <a:ext cx="1370329" cy="182880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float 4 bytes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3138108" y="3017610"/>
            <a:ext cx="465874" cy="980871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Flowchart: Magnetic Disk 12"/>
          <p:cNvSpPr/>
          <p:nvPr/>
        </p:nvSpPr>
        <p:spPr>
          <a:xfrm>
            <a:off x="3768752" y="2473071"/>
            <a:ext cx="1912007" cy="274320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double 8</a:t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> bytes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Flowchart: Magnetic Disk 13"/>
          <p:cNvSpPr/>
          <p:nvPr/>
        </p:nvSpPr>
        <p:spPr>
          <a:xfrm>
            <a:off x="5502314" y="3209058"/>
            <a:ext cx="1018606" cy="1828800"/>
          </a:xfrm>
          <a:prstGeom prst="flowChartMagneticDisk">
            <a:avLst/>
          </a:prstGeom>
          <a:solidFill>
            <a:schemeClr val="accent5">
              <a:lumMod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8" name="Flowchart: Magnetic Disk 17"/>
          <p:cNvSpPr/>
          <p:nvPr/>
        </p:nvSpPr>
        <p:spPr>
          <a:xfrm>
            <a:off x="2135786" y="4579051"/>
            <a:ext cx="1002322" cy="1274440"/>
          </a:xfrm>
          <a:prstGeom prst="flowChartMagneticDisk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char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2 bytes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Flowchart: Magnetic Disk 20"/>
          <p:cNvSpPr/>
          <p:nvPr/>
        </p:nvSpPr>
        <p:spPr>
          <a:xfrm>
            <a:off x="3245096" y="5517232"/>
            <a:ext cx="1209456" cy="1178962"/>
          </a:xfrm>
          <a:prstGeom prst="flowChartMagneticDisk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boolean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1 byte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829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Java References and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345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For more complex data, java uses </a:t>
            </a:r>
            <a:r>
              <a:rPr lang="en-US" sz="2000" kern="0" dirty="0" smtClean="0"/>
              <a:t>_________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In order to manage an object, java has a reference variable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By default, reference variables are </a:t>
            </a:r>
            <a:r>
              <a:rPr lang="en-US" sz="2800" kern="0" dirty="0" smtClean="0"/>
              <a:t>_____</a:t>
            </a:r>
            <a:endParaRPr lang="en-US" sz="2800" kern="0" dirty="0"/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, which is the German word for </a:t>
            </a:r>
            <a:r>
              <a:rPr lang="en-US" sz="2500" kern="0" dirty="0" smtClean="0"/>
              <a:t>_____</a:t>
            </a: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Let’s look at an example in java memory of primitives and references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87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31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References are like mailboxes with the address of other 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Example:</a:t>
            </a:r>
          </a:p>
          <a:p>
            <a:pPr eaLnBrk="1" hangingPunct="1"/>
            <a:r>
              <a:rPr lang="en-US" sz="2500" kern="0" dirty="0" err="1" smtClean="0">
                <a:solidFill>
                  <a:schemeClr val="accent2"/>
                </a:solidFill>
              </a:rPr>
              <a:t>int</a:t>
            </a:r>
            <a:r>
              <a:rPr lang="en-US" sz="2500" kern="0" dirty="0" smtClean="0">
                <a:solidFill>
                  <a:schemeClr val="accent2"/>
                </a:solidFill>
              </a:rPr>
              <a:t> x=6, y=5;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Color c1, c2;  //references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75656" y="3858418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5656" y="444733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07704" y="495733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7704" y="551128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239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 - Updated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9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Example Cont’d :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When we use the new command, an </a:t>
            </a:r>
            <a:r>
              <a:rPr lang="en-US" sz="3600" kern="0" dirty="0" smtClean="0">
                <a:solidFill>
                  <a:schemeClr val="accent2"/>
                </a:solidFill>
              </a:rPr>
              <a:t>_____</a:t>
            </a:r>
            <a:r>
              <a:rPr lang="en-US" sz="2500" kern="0" dirty="0" smtClean="0">
                <a:solidFill>
                  <a:schemeClr val="accent2"/>
                </a:solidFill>
              </a:rPr>
              <a:t> is associated with the reference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c1 = new Color(255,128,0);  //red, green, blue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= new Color(15,158,170);  //red, green, blue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59101" y="390068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5656" y="4368419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07704" y="495733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1208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7704" y="551128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1378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5</a:t>
            </a:fld>
            <a:endParaRPr lang="es-E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211960" y="3862670"/>
            <a:ext cx="1584176" cy="2806690"/>
            <a:chOff x="4211960" y="3862670"/>
            <a:chExt cx="1584176" cy="2806690"/>
          </a:xfrm>
        </p:grpSpPr>
        <p:sp>
          <p:nvSpPr>
            <p:cNvPr id="6" name="Rectangle 5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255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128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Straight Arrow Connector 13"/>
          <p:cNvCxnSpPr>
            <a:stCxn id="8" idx="3"/>
          </p:cNvCxnSpPr>
          <p:nvPr/>
        </p:nvCxnSpPr>
        <p:spPr>
          <a:xfrm flipV="1">
            <a:off x="3131840" y="4186706"/>
            <a:ext cx="1080120" cy="985844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786078" y="4323155"/>
            <a:ext cx="1584176" cy="2806690"/>
            <a:chOff x="4211960" y="3862670"/>
            <a:chExt cx="1584176" cy="2806690"/>
          </a:xfrm>
        </p:grpSpPr>
        <p:sp>
          <p:nvSpPr>
            <p:cNvPr id="17" name="Rectangle 16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2987824" y="5909812"/>
            <a:ext cx="3798254" cy="745479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02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View of Memory – using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9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References allow the computer to get to the object and perform any necessary actions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This is known as _____________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x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err="1" smtClean="0">
                <a:solidFill>
                  <a:schemeClr val="accent2"/>
                </a:solidFill>
              </a:rPr>
              <a:t>y</a:t>
            </a:r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c1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c2 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75656" y="3756455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6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5656" y="4368419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5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78770" y="4955635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1208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7704" y="551128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1378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6</a:t>
            </a:fld>
            <a:endParaRPr lang="es-ES" dirty="0"/>
          </a:p>
        </p:txBody>
      </p:sp>
      <p:grpSp>
        <p:nvGrpSpPr>
          <p:cNvPr id="15" name="Group 14"/>
          <p:cNvGrpSpPr/>
          <p:nvPr/>
        </p:nvGrpSpPr>
        <p:grpSpPr>
          <a:xfrm>
            <a:off x="4211960" y="3862670"/>
            <a:ext cx="1584176" cy="2806690"/>
            <a:chOff x="4211960" y="3862670"/>
            <a:chExt cx="1584176" cy="2806690"/>
          </a:xfrm>
        </p:grpSpPr>
        <p:sp>
          <p:nvSpPr>
            <p:cNvPr id="6" name="Rectangle 5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255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128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" name="Straight Arrow Connector 13"/>
          <p:cNvCxnSpPr>
            <a:stCxn id="8" idx="3"/>
          </p:cNvCxnSpPr>
          <p:nvPr/>
        </p:nvCxnSpPr>
        <p:spPr>
          <a:xfrm flipV="1">
            <a:off x="3102906" y="4185004"/>
            <a:ext cx="1080120" cy="985844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6786078" y="4323155"/>
            <a:ext cx="1584176" cy="2806690"/>
            <a:chOff x="4211960" y="3862670"/>
            <a:chExt cx="1584176" cy="2806690"/>
          </a:xfrm>
        </p:grpSpPr>
        <p:sp>
          <p:nvSpPr>
            <p:cNvPr id="17" name="Rectangle 16"/>
            <p:cNvSpPr/>
            <p:nvPr/>
          </p:nvSpPr>
          <p:spPr>
            <a:xfrm>
              <a:off x="4211960" y="3862670"/>
              <a:ext cx="1584176" cy="28066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endParaRPr lang="en-US" dirty="0" smtClean="0"/>
            </a:p>
            <a:p>
              <a:pPr algn="ctr"/>
              <a:endParaRPr lang="en-US" dirty="0"/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Other stuff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302137" y="418688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4306167" y="4902914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158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4335468" y="5641601"/>
              <a:ext cx="1403821" cy="55320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>
                  <a:solidFill>
                    <a:schemeClr val="tx1"/>
                  </a:solidFill>
                </a:rPr>
                <a:t>170</a:t>
              </a:r>
              <a:endParaRPr lang="en-US" sz="3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2987824" y="5909812"/>
            <a:ext cx="3798254" cy="745479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50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Utilizing Objects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9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Much like a remote control operates a television, a reference variable is used to control an object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Here, we can set the background of a </a:t>
            </a:r>
            <a:r>
              <a:rPr lang="en-US" sz="2500" kern="0" dirty="0" err="1" smtClean="0">
                <a:solidFill>
                  <a:schemeClr val="accent2"/>
                </a:solidFill>
              </a:rPr>
              <a:t>JButton</a:t>
            </a:r>
            <a:r>
              <a:rPr lang="en-US" sz="2500" kern="0" dirty="0" smtClean="0">
                <a:solidFill>
                  <a:schemeClr val="accent2"/>
                </a:solidFill>
              </a:rPr>
              <a:t> using our references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err="1" smtClean="0">
                <a:solidFill>
                  <a:schemeClr val="accent2"/>
                </a:solidFill>
              </a:rPr>
              <a:t>raisePowBUT.setBackground</a:t>
            </a:r>
            <a:r>
              <a:rPr lang="en-US" sz="2500" kern="0" dirty="0" smtClean="0">
                <a:solidFill>
                  <a:schemeClr val="accent2"/>
                </a:solidFill>
              </a:rPr>
              <a:t>(c1);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See if you can set the foreground of the clear button (</a:t>
            </a:r>
            <a:r>
              <a:rPr lang="en-US" sz="2500" kern="0" dirty="0" err="1" smtClean="0">
                <a:solidFill>
                  <a:schemeClr val="accent2"/>
                </a:solidFill>
              </a:rPr>
              <a:t>clearBUT</a:t>
            </a:r>
            <a:r>
              <a:rPr lang="en-US" sz="2500" kern="0" dirty="0" smtClean="0">
                <a:solidFill>
                  <a:schemeClr val="accent2"/>
                </a:solidFill>
              </a:rPr>
              <a:t>) to the color specified by c2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71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Utilizing Objects – the member operator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9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Objects can be controlled using the member operator or 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>For example, yesterday I learned that the Color class has a darker method.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To darken c1, use c1.darker();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To darken c2, use c2.darker();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In general, the member operator dereferences the memory address so we can access our objects.</a:t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r>
              <a:rPr lang="en-US" sz="2500" kern="0" dirty="0" smtClean="0">
                <a:solidFill>
                  <a:schemeClr val="accent2"/>
                </a:solidFill>
              </a:rPr>
              <a:t/>
            </a:r>
            <a:br>
              <a:rPr lang="en-US" sz="2500" kern="0" dirty="0" smtClean="0">
                <a:solidFill>
                  <a:schemeClr val="accent2"/>
                </a:solidFill>
              </a:rPr>
            </a:b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686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String class is unique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The String class utilizes references but does not require _____________</a:t>
            </a:r>
            <a:endParaRPr lang="en-US" sz="4000" kern="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Examples,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name1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name2 = “Andrew”;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name3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Question: why is it not reliable to use 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if(name1 == name3) in java code?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59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428" y="-1365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String class is unique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796421" y="908720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name1 = “Joanne”;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name2 = “Andrew”;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String name3 = “Joanne”;</a:t>
            </a:r>
          </a:p>
          <a:p>
            <a:pPr eaLnBrk="1" hangingPunct="1"/>
            <a:endParaRPr lang="en-US" sz="2500" kern="0" dirty="0" smtClean="0">
              <a:solidFill>
                <a:schemeClr val="accent2"/>
              </a:solidFill>
            </a:endParaRPr>
          </a:p>
          <a:p>
            <a:pPr marL="0" indent="0" eaLnBrk="1" hangingPunct="1">
              <a:buNone/>
            </a:pPr>
            <a:endParaRPr lang="en-US" sz="2500" kern="0" dirty="0" smtClean="0">
              <a:solidFill>
                <a:schemeClr val="accent2"/>
              </a:solidFill>
            </a:endParaRPr>
          </a:p>
          <a:p>
            <a:pPr marL="0" indent="0" eaLnBrk="1" hangingPunct="1">
              <a:buNone/>
            </a:pP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10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295636" y="2496141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8002" y="3333952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768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5636" y="463654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1590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0" y="238528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7" y="25266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93794" y="33370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5413" y="466830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name3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3438"/>
              </p:ext>
            </p:extLst>
          </p:nvPr>
        </p:nvGraphicFramePr>
        <p:xfrm>
          <a:off x="3680532" y="2708011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00776" y="262062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567" y="2388208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19772" y="2711354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31256" y="3348170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322122"/>
              </p:ext>
            </p:extLst>
          </p:nvPr>
        </p:nvGraphicFramePr>
        <p:xfrm>
          <a:off x="3650890" y="3670895"/>
          <a:ext cx="20764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871134" y="358351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8925" y="3351092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562138" y="3521682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519772" y="4809635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31256" y="443676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98924" y="4451874"/>
            <a:ext cx="78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1590</a:t>
            </a:r>
            <a:endParaRPr lang="en-US" dirty="0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60154"/>
              </p:ext>
            </p:extLst>
          </p:nvPr>
        </p:nvGraphicFramePr>
        <p:xfrm>
          <a:off x="3654777" y="4809635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5900776" y="4668308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812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428" y="-1365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6913" y="908720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name2 = name1?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11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295636" y="2496141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23011" y="3041647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0" y="238528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7" y="25266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50519" y="308965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590043"/>
              </p:ext>
            </p:extLst>
          </p:nvPr>
        </p:nvGraphicFramePr>
        <p:xfrm>
          <a:off x="3680532" y="2708011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00776" y="262062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567" y="2388208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19772" y="2711354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31256" y="3348170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77485"/>
              </p:ext>
            </p:extLst>
          </p:nvPr>
        </p:nvGraphicFramePr>
        <p:xfrm>
          <a:off x="3650890" y="3670895"/>
          <a:ext cx="20764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871134" y="358351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8925" y="3351092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519772" y="3073771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23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428" y="-1365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00984" y="908720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name1 </a:t>
            </a:r>
            <a:r>
              <a:rPr lang="en-US" sz="2500" kern="0" smtClean="0">
                <a:solidFill>
                  <a:schemeClr val="accent2"/>
                </a:solidFill>
              </a:rPr>
              <a:t>= null </a:t>
            </a:r>
            <a:r>
              <a:rPr lang="en-US" sz="2500" kern="0" dirty="0" smtClean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12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295636" y="2496141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8002" y="3333952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0" y="238528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7" y="25266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93794" y="33370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463774"/>
              </p:ext>
            </p:extLst>
          </p:nvPr>
        </p:nvGraphicFramePr>
        <p:xfrm>
          <a:off x="3680532" y="2708011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00776" y="262062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567" y="2388208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19772" y="2711354"/>
            <a:ext cx="972108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31256" y="3348170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84805"/>
              </p:ext>
            </p:extLst>
          </p:nvPr>
        </p:nvGraphicFramePr>
        <p:xfrm>
          <a:off x="3650890" y="3670895"/>
          <a:ext cx="20764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871134" y="358351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8925" y="3351092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562138" y="3140968"/>
            <a:ext cx="929742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09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428" y="-1365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Aliasing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00984" y="908720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What if we set name1 = null 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13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295636" y="2496141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8002" y="3333952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0" y="238528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7" y="25266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93794" y="33370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933003"/>
              </p:ext>
            </p:extLst>
          </p:nvPr>
        </p:nvGraphicFramePr>
        <p:xfrm>
          <a:off x="3680532" y="2708011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00776" y="262062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567" y="2388208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531256" y="3348170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338599"/>
              </p:ext>
            </p:extLst>
          </p:nvPr>
        </p:nvGraphicFramePr>
        <p:xfrm>
          <a:off x="3650890" y="3670895"/>
          <a:ext cx="20764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871134" y="358351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8925" y="3351092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562138" y="3140968"/>
            <a:ext cx="929742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34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428" y="-13652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When does 768 get garbage collected?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00984" y="1124744"/>
            <a:ext cx="7129463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500" kern="0" dirty="0" smtClean="0">
                <a:solidFill>
                  <a:schemeClr val="accent2"/>
                </a:solidFill>
              </a:rPr>
              <a:t>Garbage collection is java’s way of recovering memory objects whose reference count is </a:t>
            </a:r>
            <a:endParaRPr lang="en-US" sz="4000" kern="0" dirty="0" smtClean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14</a:t>
            </a:fld>
            <a:endParaRPr lang="es-ES" dirty="0"/>
          </a:p>
        </p:txBody>
      </p:sp>
      <p:sp>
        <p:nvSpPr>
          <p:cNvPr id="5" name="Rectangle 4"/>
          <p:cNvSpPr/>
          <p:nvPr/>
        </p:nvSpPr>
        <p:spPr>
          <a:xfrm>
            <a:off x="1295636" y="2496141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null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8002" y="3333952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812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91880" y="2385286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3527" y="252668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name1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93794" y="333701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name2</a:t>
            </a:r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760450"/>
              </p:ext>
            </p:extLst>
          </p:nvPr>
        </p:nvGraphicFramePr>
        <p:xfrm>
          <a:off x="3680532" y="2708011"/>
          <a:ext cx="204372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00776" y="2620626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8567" y="2388208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812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531256" y="3348170"/>
            <a:ext cx="3705040" cy="8324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69499"/>
              </p:ext>
            </p:extLst>
          </p:nvPr>
        </p:nvGraphicFramePr>
        <p:xfrm>
          <a:off x="3650890" y="3670895"/>
          <a:ext cx="207648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871134" y="3583510"/>
            <a:ext cx="1224136" cy="430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8925" y="3351092"/>
            <a:ext cx="64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768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562138" y="3140968"/>
            <a:ext cx="929742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787" y="5013176"/>
            <a:ext cx="7451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C++, objects MUST be deleted to recover their memory so when you</a:t>
            </a:r>
          </a:p>
          <a:p>
            <a:r>
              <a:rPr lang="en-US" dirty="0" smtClean="0"/>
              <a:t>Forget to do that, we have a memory leak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7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Summary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Rectangle 111"/>
          <p:cNvSpPr txBox="1">
            <a:spLocks noChangeArrowheads="1"/>
          </p:cNvSpPr>
          <p:nvPr/>
        </p:nvSpPr>
        <p:spPr bwMode="auto">
          <a:xfrm>
            <a:off x="827584" y="1704053"/>
            <a:ext cx="7129463" cy="49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Java stores primitives in memory locations and retrieves the values that are there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Java stores reference variables that point to objects stored elsewhere in memory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By default, references are assigned _____</a:t>
            </a:r>
            <a:endParaRPr lang="en-US" kern="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The dot (member) . operator dereferences the memory address in order to gain access to an object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____________is when two or more references point to the same ___________</a:t>
            </a:r>
          </a:p>
          <a:p>
            <a:pPr eaLnBrk="1" hangingPunct="1"/>
            <a:r>
              <a:rPr lang="en-US" sz="2500" kern="0" dirty="0" smtClean="0">
                <a:solidFill>
                  <a:schemeClr val="accent2"/>
                </a:solidFill>
              </a:rPr>
              <a:t>Garbage </a:t>
            </a:r>
            <a:r>
              <a:rPr lang="en-US" sz="2500" kern="0" smtClean="0">
                <a:solidFill>
                  <a:schemeClr val="accent2"/>
                </a:solidFill>
              </a:rPr>
              <a:t>collecting is</a:t>
            </a:r>
            <a:endParaRPr lang="en-US" sz="2500" kern="0" dirty="0" smtClean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EAC924-BEDF-4C27-AFA5-9696D4768364}" type="slidenum">
              <a:rPr lang="es-ES" smtClean="0"/>
              <a:pPr>
                <a:defRPr/>
              </a:pPr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98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14594</TotalTime>
  <Words>756</Words>
  <Application>Microsoft Office PowerPoint</Application>
  <PresentationFormat>On-screen Show (4:3)</PresentationFormat>
  <Paragraphs>331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Diseño predeterminado</vt:lpstr>
      <vt:lpstr>Java primitives, references and objects by mr Hanley 3/4/2017</vt:lpstr>
      <vt:lpstr>Java Primitives</vt:lpstr>
      <vt:lpstr>Java References and Objects</vt:lpstr>
      <vt:lpstr>View of Memory</vt:lpstr>
      <vt:lpstr>View of Memory - Updated</vt:lpstr>
      <vt:lpstr>View of Memory – using objects</vt:lpstr>
      <vt:lpstr>Utilizing Objects</vt:lpstr>
      <vt:lpstr>Utilizing Objects – the member operator</vt:lpstr>
      <vt:lpstr>String class is unique</vt:lpstr>
      <vt:lpstr>String class is unique</vt:lpstr>
      <vt:lpstr>Aliasing</vt:lpstr>
      <vt:lpstr>Aliasing</vt:lpstr>
      <vt:lpstr>Aliasing</vt:lpstr>
      <vt:lpstr>When does 768 get garbage collected?</vt:lpstr>
      <vt:lpstr>Summary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Chris Hanley</cp:lastModifiedBy>
  <cp:revision>739</cp:revision>
  <cp:lastPrinted>2022-12-01T14:33:23Z</cp:lastPrinted>
  <dcterms:created xsi:type="dcterms:W3CDTF">2010-05-23T14:28:12Z</dcterms:created>
  <dcterms:modified xsi:type="dcterms:W3CDTF">2022-12-02T17:35:33Z</dcterms:modified>
</cp:coreProperties>
</file>